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419"/>
        </a:solidFill>
      </p:bgPr>
    </p:bg>
    <p:spTree>
      <p:nvGrpSpPr>
        <p:cNvPr id="1" name=""/>
        <p:cNvGrpSpPr/>
        <p:nvPr/>
      </p:nvGrpSpPr>
      <p:grpSpPr>
        <a:xfrm>
          <a:off x="0" y="0"/>
          <a:ext cx="0" cy="0"/>
          <a:chOff x="0" y="0"/>
          <a:chExt cx="0" cy="0"/>
        </a:xfrm>
      </p:grpSpPr>
      <p:sp>
        <p:nvSpPr>
          <p:cNvPr id="2" name="Text 0"/>
          <p:cNvSpPr/>
          <p:nvPr/>
        </p:nvSpPr>
        <p:spPr>
          <a:xfrm>
            <a:off x="731520" y="1280160"/>
            <a:ext cx="7680960" cy="914400"/>
          </a:xfrm>
          <a:prstGeom prst="rect">
            <a:avLst/>
          </a:prstGeom>
          <a:noFill/>
          <a:ln/>
        </p:spPr>
        <p:txBody>
          <a:bodyPr wrap="square" rtlCol="0" anchor="ctr"/>
          <a:lstStyle/>
          <a:p>
            <a:pPr indent="0" marL="0">
              <a:buNone/>
            </a:pPr>
            <a:r>
              <a:rPr lang="en-US" sz="4400" b="1" dirty="0">
                <a:solidFill>
                  <a:srgbClr val="FFFFFF"/>
                </a:solidFill>
                <a:latin typeface="Trebuchet MS" pitchFamily="34" charset="0"/>
                <a:ea typeface="Trebuchet MS" pitchFamily="34" charset="-122"/>
                <a:cs typeface="Trebuchet MS" pitchFamily="34" charset="-120"/>
              </a:rPr>
              <a:t>Traffic Monitor API</a:t>
            </a:r>
            <a:endParaRPr lang="en-US" sz="4400" dirty="0"/>
          </a:p>
        </p:txBody>
      </p:sp>
      <p:sp>
        <p:nvSpPr>
          <p:cNvPr id="3" name="Text 1"/>
          <p:cNvSpPr/>
          <p:nvPr/>
        </p:nvSpPr>
        <p:spPr>
          <a:xfrm>
            <a:off x="731520" y="2194560"/>
            <a:ext cx="7680960" cy="548640"/>
          </a:xfrm>
          <a:prstGeom prst="rect">
            <a:avLst/>
          </a:prstGeom>
          <a:noFill/>
          <a:ln/>
        </p:spPr>
        <p:txBody>
          <a:bodyPr wrap="square" rtlCol="0" anchor="ctr"/>
          <a:lstStyle/>
          <a:p>
            <a:pPr indent="0" marL="0">
              <a:buNone/>
            </a:pPr>
            <a:r>
              <a:rPr lang="en-US" sz="2200" i="1" dirty="0">
                <a:solidFill>
                  <a:srgbClr val="0F766E"/>
                </a:solidFill>
                <a:latin typeface="Calibri" pitchFamily="34" charset="0"/>
                <a:ea typeface="Calibri" pitchFamily="34" charset="-122"/>
                <a:cs typeface="Calibri" pitchFamily="34" charset="-120"/>
              </a:rPr>
              <a:t>How it works</a:t>
            </a:r>
            <a:endParaRPr lang="en-US" sz="2200" dirty="0"/>
          </a:p>
        </p:txBody>
      </p:sp>
      <p:sp>
        <p:nvSpPr>
          <p:cNvPr id="4" name="Text 2"/>
          <p:cNvSpPr/>
          <p:nvPr/>
        </p:nvSpPr>
        <p:spPr>
          <a:xfrm>
            <a:off x="731520" y="3108960"/>
            <a:ext cx="7680960" cy="457200"/>
          </a:xfrm>
          <a:prstGeom prst="rect">
            <a:avLst/>
          </a:prstGeom>
          <a:noFill/>
          <a:ln/>
        </p:spPr>
        <p:txBody>
          <a:bodyPr wrap="square" rtlCol="0" anchor="ctr"/>
          <a:lstStyle/>
          <a:p>
            <a:pPr indent="0" marL="0">
              <a:buNone/>
            </a:pPr>
            <a:r>
              <a:rPr lang="en-US" sz="1400" dirty="0">
                <a:solidFill>
                  <a:srgbClr val="94A3B8"/>
                </a:solidFill>
                <a:latin typeface="Calibri" pitchFamily="34" charset="0"/>
                <a:ea typeface="Calibri" pitchFamily="34" charset="-122"/>
                <a:cs typeface="Calibri" pitchFamily="34" charset="-120"/>
              </a:rPr>
              <a:t>Martin Lau — April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B"/>
        </a:solidFill>
      </p:bgPr>
    </p:bg>
    <p:spTree>
      <p:nvGrpSpPr>
        <p:cNvPr id="1" name=""/>
        <p:cNvGrpSpPr/>
        <p:nvPr/>
      </p:nvGrpSpPr>
      <p:grpSpPr>
        <a:xfrm>
          <a:off x="0" y="0"/>
          <a:ext cx="0" cy="0"/>
          <a:chOff x="0" y="0"/>
          <a:chExt cx="0" cy="0"/>
        </a:xfrm>
      </p:grpSpPr>
      <p:sp>
        <p:nvSpPr>
          <p:cNvPr id="2" name="Text 0"/>
          <p:cNvSpPr/>
          <p:nvPr/>
        </p:nvSpPr>
        <p:spPr>
          <a:xfrm>
            <a:off x="731520" y="274320"/>
            <a:ext cx="7680960" cy="548640"/>
          </a:xfrm>
          <a:prstGeom prst="rect">
            <a:avLst/>
          </a:prstGeom>
          <a:noFill/>
          <a:ln/>
        </p:spPr>
        <p:txBody>
          <a:bodyPr wrap="square" lIns="0" tIns="0" rIns="0" bIns="0" rtlCol="0" anchor="ctr"/>
          <a:lstStyle/>
          <a:p>
            <a:pPr indent="0" marL="0">
              <a:buNone/>
            </a:pPr>
            <a:r>
              <a:rPr lang="en-US" sz="3200" b="1" dirty="0">
                <a:solidFill>
                  <a:srgbClr val="1A2332"/>
                </a:solidFill>
                <a:latin typeface="Trebuchet MS" pitchFamily="34" charset="0"/>
                <a:ea typeface="Trebuchet MS" pitchFamily="34" charset="-122"/>
                <a:cs typeface="Trebuchet MS" pitchFamily="34" charset="-120"/>
              </a:rPr>
              <a:t>Project structure</a:t>
            </a:r>
            <a:endParaRPr lang="en-US" sz="3200" dirty="0"/>
          </a:p>
        </p:txBody>
      </p:sp>
      <p:sp>
        <p:nvSpPr>
          <p:cNvPr id="3" name="Shape 1"/>
          <p:cNvSpPr/>
          <p:nvPr/>
        </p:nvSpPr>
        <p:spPr>
          <a:xfrm>
            <a:off x="731520" y="914400"/>
            <a:ext cx="7680960" cy="640080"/>
          </a:xfrm>
          <a:prstGeom prst="rect">
            <a:avLst/>
          </a:prstGeom>
          <a:solidFill>
            <a:srgbClr val="2B7CD3"/>
          </a:solidFill>
          <a:ln/>
        </p:spPr>
      </p:sp>
      <p:sp>
        <p:nvSpPr>
          <p:cNvPr id="4" name="Text 2"/>
          <p:cNvSpPr/>
          <p:nvPr/>
        </p:nvSpPr>
        <p:spPr>
          <a:xfrm>
            <a:off x="731520" y="914400"/>
            <a:ext cx="457200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TrafficMonitor.Api</a:t>
            </a:r>
            <a:endParaRPr lang="en-US" sz="1600" dirty="0"/>
          </a:p>
        </p:txBody>
      </p:sp>
      <p:sp>
        <p:nvSpPr>
          <p:cNvPr id="5" name="Text 3"/>
          <p:cNvSpPr/>
          <p:nvPr/>
        </p:nvSpPr>
        <p:spPr>
          <a:xfrm>
            <a:off x="731520" y="1234440"/>
            <a:ext cx="7680960" cy="274320"/>
          </a:xfrm>
          <a:prstGeom prst="rect">
            <a:avLst/>
          </a:prstGeom>
          <a:noFill/>
          <a:ln/>
        </p:spPr>
        <p:txBody>
          <a:bodyPr wrap="square" lIns="0" tIns="0" rIns="0" bIns="0" rtlCol="0" anchor="ctr"/>
          <a:lstStyle/>
          <a:p>
            <a:pPr indent="0" marL="0">
              <a:buNone/>
            </a:pPr>
            <a:r>
              <a:rPr lang="en-US" sz="1000" dirty="0">
                <a:solidFill>
                  <a:srgbClr val="B5D4F4"/>
                </a:solidFill>
                <a:latin typeface="Calibri" pitchFamily="34" charset="0"/>
                <a:ea typeface="Calibri" pitchFamily="34" charset="-122"/>
                <a:cs typeface="Calibri" pitchFamily="34" charset="-120"/>
              </a:rPr>
              <a:t>EventsController, GlobalExceptionHandler, Program.cs</a:t>
            </a:r>
            <a:endParaRPr lang="en-US" sz="1000" dirty="0"/>
          </a:p>
        </p:txBody>
      </p:sp>
      <p:sp>
        <p:nvSpPr>
          <p:cNvPr id="6" name="Shape 4"/>
          <p:cNvSpPr/>
          <p:nvPr/>
        </p:nvSpPr>
        <p:spPr>
          <a:xfrm>
            <a:off x="2286000" y="1554480"/>
            <a:ext cx="0" cy="274320"/>
          </a:xfrm>
          <a:prstGeom prst="line">
            <a:avLst/>
          </a:prstGeom>
          <a:noFill/>
          <a:ln w="12700">
            <a:solidFill>
              <a:srgbClr val="888780"/>
            </a:solidFill>
            <a:prstDash val="solid"/>
          </a:ln>
        </p:spPr>
      </p:sp>
      <p:sp>
        <p:nvSpPr>
          <p:cNvPr id="7" name="Shape 5"/>
          <p:cNvSpPr/>
          <p:nvPr/>
        </p:nvSpPr>
        <p:spPr>
          <a:xfrm>
            <a:off x="6858000" y="1554480"/>
            <a:ext cx="0" cy="1188720"/>
          </a:xfrm>
          <a:prstGeom prst="line">
            <a:avLst/>
          </a:prstGeom>
          <a:noFill/>
          <a:ln w="12700">
            <a:solidFill>
              <a:srgbClr val="888780"/>
            </a:solidFill>
            <a:prstDash val="solid"/>
          </a:ln>
        </p:spPr>
      </p:sp>
      <p:sp>
        <p:nvSpPr>
          <p:cNvPr id="8" name="Shape 6"/>
          <p:cNvSpPr/>
          <p:nvPr/>
        </p:nvSpPr>
        <p:spPr>
          <a:xfrm>
            <a:off x="731520" y="1874520"/>
            <a:ext cx="5120640" cy="640080"/>
          </a:xfrm>
          <a:prstGeom prst="rect">
            <a:avLst/>
          </a:prstGeom>
          <a:solidFill>
            <a:srgbClr val="E5A229"/>
          </a:solidFill>
          <a:ln/>
        </p:spPr>
      </p:sp>
      <p:sp>
        <p:nvSpPr>
          <p:cNvPr id="9" name="Text 7"/>
          <p:cNvSpPr/>
          <p:nvPr/>
        </p:nvSpPr>
        <p:spPr>
          <a:xfrm>
            <a:off x="731520" y="1874520"/>
            <a:ext cx="512064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TrafficMonitor.Infrastructure</a:t>
            </a:r>
            <a:endParaRPr lang="en-US" sz="1600" dirty="0"/>
          </a:p>
        </p:txBody>
      </p:sp>
      <p:sp>
        <p:nvSpPr>
          <p:cNvPr id="10" name="Text 8"/>
          <p:cNvSpPr/>
          <p:nvPr/>
        </p:nvSpPr>
        <p:spPr>
          <a:xfrm>
            <a:off x="731520" y="2194560"/>
            <a:ext cx="5120640" cy="274320"/>
          </a:xfrm>
          <a:prstGeom prst="rect">
            <a:avLst/>
          </a:prstGeom>
          <a:noFill/>
          <a:ln/>
        </p:spPr>
        <p:txBody>
          <a:bodyPr wrap="square" lIns="0" tIns="0" rIns="0" bIns="0" rtlCol="0" anchor="ctr"/>
          <a:lstStyle/>
          <a:p>
            <a:pPr indent="0" marL="0">
              <a:buNone/>
            </a:pPr>
            <a:r>
              <a:rPr lang="en-US" sz="1000" dirty="0">
                <a:solidFill>
                  <a:srgbClr val="FFF3D6"/>
                </a:solidFill>
                <a:latin typeface="Calibri" pitchFamily="34" charset="0"/>
                <a:ea typeface="Calibri" pitchFamily="34" charset="-122"/>
                <a:cs typeface="Calibri" pitchFamily="34" charset="-120"/>
              </a:rPr>
              <a:t>Repository, DbContext, JSONB, AddInfrastructure()</a:t>
            </a:r>
            <a:endParaRPr lang="en-US" sz="1000" dirty="0"/>
          </a:p>
        </p:txBody>
      </p:sp>
      <p:sp>
        <p:nvSpPr>
          <p:cNvPr id="11" name="Shape 9"/>
          <p:cNvSpPr/>
          <p:nvPr/>
        </p:nvSpPr>
        <p:spPr>
          <a:xfrm>
            <a:off x="6035040" y="1874520"/>
            <a:ext cx="2377440" cy="640080"/>
          </a:xfrm>
          <a:prstGeom prst="rect">
            <a:avLst/>
          </a:prstGeom>
          <a:solidFill>
            <a:srgbClr val="6B4FA0"/>
          </a:solidFill>
          <a:ln/>
        </p:spPr>
      </p:sp>
      <p:sp>
        <p:nvSpPr>
          <p:cNvPr id="12" name="Text 10"/>
          <p:cNvSpPr/>
          <p:nvPr/>
        </p:nvSpPr>
        <p:spPr>
          <a:xfrm>
            <a:off x="6035040" y="1874520"/>
            <a:ext cx="237744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Tests</a:t>
            </a:r>
            <a:endParaRPr lang="en-US" sz="1600" dirty="0"/>
          </a:p>
        </p:txBody>
      </p:sp>
      <p:sp>
        <p:nvSpPr>
          <p:cNvPr id="13" name="Text 11"/>
          <p:cNvSpPr/>
          <p:nvPr/>
        </p:nvSpPr>
        <p:spPr>
          <a:xfrm>
            <a:off x="6035040" y="2194560"/>
            <a:ext cx="2377440" cy="274320"/>
          </a:xfrm>
          <a:prstGeom prst="rect">
            <a:avLst/>
          </a:prstGeom>
          <a:noFill/>
          <a:ln/>
        </p:spPr>
        <p:txBody>
          <a:bodyPr wrap="square" lIns="0" tIns="0" rIns="0" bIns="0" rtlCol="0" anchor="ctr"/>
          <a:lstStyle/>
          <a:p>
            <a:pPr indent="0" marL="0">
              <a:buNone/>
            </a:pPr>
            <a:r>
              <a:rPr lang="en-US" sz="1000" dirty="0">
                <a:solidFill>
                  <a:srgbClr val="D5CBF0"/>
                </a:solidFill>
                <a:latin typeface="Calibri" pitchFamily="34" charset="0"/>
                <a:ea typeface="Calibri" pitchFamily="34" charset="-122"/>
                <a:cs typeface="Calibri" pitchFamily="34" charset="-120"/>
              </a:rPr>
              <a:t>xUnit, WebAppFactory</a:t>
            </a:r>
            <a:endParaRPr lang="en-US" sz="1000" dirty="0"/>
          </a:p>
        </p:txBody>
      </p:sp>
      <p:sp>
        <p:nvSpPr>
          <p:cNvPr id="14" name="Shape 12"/>
          <p:cNvSpPr/>
          <p:nvPr/>
        </p:nvSpPr>
        <p:spPr>
          <a:xfrm>
            <a:off x="3200400" y="2514600"/>
            <a:ext cx="0" cy="274320"/>
          </a:xfrm>
          <a:prstGeom prst="line">
            <a:avLst/>
          </a:prstGeom>
          <a:noFill/>
          <a:ln w="12700">
            <a:solidFill>
              <a:srgbClr val="888780"/>
            </a:solidFill>
            <a:prstDash val="solid"/>
          </a:ln>
        </p:spPr>
      </p:sp>
      <p:sp>
        <p:nvSpPr>
          <p:cNvPr id="15" name="Shape 13"/>
          <p:cNvSpPr/>
          <p:nvPr/>
        </p:nvSpPr>
        <p:spPr>
          <a:xfrm>
            <a:off x="731520" y="2834640"/>
            <a:ext cx="7680960" cy="640080"/>
          </a:xfrm>
          <a:prstGeom prst="rect">
            <a:avLst/>
          </a:prstGeom>
          <a:solidFill>
            <a:srgbClr val="C44B2F"/>
          </a:solidFill>
          <a:ln/>
        </p:spPr>
      </p:sp>
      <p:sp>
        <p:nvSpPr>
          <p:cNvPr id="16" name="Text 14"/>
          <p:cNvSpPr/>
          <p:nvPr/>
        </p:nvSpPr>
        <p:spPr>
          <a:xfrm>
            <a:off x="731520" y="2834640"/>
            <a:ext cx="768096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TrafficMonitor.Application</a:t>
            </a:r>
            <a:endParaRPr lang="en-US" sz="1600" dirty="0"/>
          </a:p>
        </p:txBody>
      </p:sp>
      <p:sp>
        <p:nvSpPr>
          <p:cNvPr id="17" name="Text 15"/>
          <p:cNvSpPr/>
          <p:nvPr/>
        </p:nvSpPr>
        <p:spPr>
          <a:xfrm>
            <a:off x="731520" y="3154680"/>
            <a:ext cx="7680960" cy="274320"/>
          </a:xfrm>
          <a:prstGeom prst="rect">
            <a:avLst/>
          </a:prstGeom>
          <a:noFill/>
          <a:ln/>
        </p:spPr>
        <p:txBody>
          <a:bodyPr wrap="square" lIns="0" tIns="0" rIns="0" bIns="0" rtlCol="0" anchor="ctr"/>
          <a:lstStyle/>
          <a:p>
            <a:pPr indent="0" marL="0">
              <a:buNone/>
            </a:pPr>
            <a:r>
              <a:rPr lang="en-US" sz="1000" dirty="0">
                <a:solidFill>
                  <a:srgbClr val="F5C4B3"/>
                </a:solidFill>
                <a:latin typeface="Calibri" pitchFamily="34" charset="0"/>
                <a:ea typeface="Calibri" pitchFamily="34" charset="-122"/>
                <a:cs typeface="Calibri" pitchFamily="34" charset="-120"/>
              </a:rPr>
              <a:t>Handlers, Commands, Queries, DTOs, ITrafficEventRepository</a:t>
            </a:r>
            <a:endParaRPr lang="en-US" sz="1000" dirty="0"/>
          </a:p>
        </p:txBody>
      </p:sp>
      <p:sp>
        <p:nvSpPr>
          <p:cNvPr id="18" name="Shape 16"/>
          <p:cNvSpPr/>
          <p:nvPr/>
        </p:nvSpPr>
        <p:spPr>
          <a:xfrm>
            <a:off x="4572000" y="3474720"/>
            <a:ext cx="0" cy="274320"/>
          </a:xfrm>
          <a:prstGeom prst="line">
            <a:avLst/>
          </a:prstGeom>
          <a:noFill/>
          <a:ln w="12700">
            <a:solidFill>
              <a:srgbClr val="888780"/>
            </a:solidFill>
            <a:prstDash val="solid"/>
          </a:ln>
        </p:spPr>
      </p:sp>
      <p:sp>
        <p:nvSpPr>
          <p:cNvPr id="19" name="Shape 17"/>
          <p:cNvSpPr/>
          <p:nvPr/>
        </p:nvSpPr>
        <p:spPr>
          <a:xfrm>
            <a:off x="731520" y="3794760"/>
            <a:ext cx="7680960" cy="594360"/>
          </a:xfrm>
          <a:prstGeom prst="rect">
            <a:avLst/>
          </a:prstGeom>
          <a:solidFill>
            <a:srgbClr val="1A6B5A"/>
          </a:solidFill>
          <a:ln/>
        </p:spPr>
      </p:sp>
      <p:sp>
        <p:nvSpPr>
          <p:cNvPr id="20" name="Text 18"/>
          <p:cNvSpPr/>
          <p:nvPr/>
        </p:nvSpPr>
        <p:spPr>
          <a:xfrm>
            <a:off x="731520" y="3794760"/>
            <a:ext cx="7680960" cy="32004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TrafficMonitor.Domain</a:t>
            </a:r>
            <a:endParaRPr lang="en-US" sz="1600" dirty="0"/>
          </a:p>
        </p:txBody>
      </p:sp>
      <p:sp>
        <p:nvSpPr>
          <p:cNvPr id="21" name="Text 19"/>
          <p:cNvSpPr/>
          <p:nvPr/>
        </p:nvSpPr>
        <p:spPr>
          <a:xfrm>
            <a:off x="731520" y="4069080"/>
            <a:ext cx="7680960" cy="274320"/>
          </a:xfrm>
          <a:prstGeom prst="rect">
            <a:avLst/>
          </a:prstGeom>
          <a:noFill/>
          <a:ln/>
        </p:spPr>
        <p:txBody>
          <a:bodyPr wrap="square" lIns="0" tIns="0" rIns="0" bIns="0" rtlCol="0" anchor="ctr"/>
          <a:lstStyle/>
          <a:p>
            <a:pPr indent="0" marL="0">
              <a:buNone/>
            </a:pPr>
            <a:r>
              <a:rPr lang="en-US" sz="1000" dirty="0">
                <a:solidFill>
                  <a:srgbClr val="9FE1CB"/>
                </a:solidFill>
                <a:latin typeface="Calibri" pitchFamily="34" charset="0"/>
                <a:ea typeface="Calibri" pitchFamily="34" charset="-122"/>
                <a:cs typeface="Calibri" pitchFamily="34" charset="-120"/>
              </a:rPr>
              <a:t>TrafficEvent, Detection, BoundingBox, EventType, Severity</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B"/>
        </a:solidFill>
      </p:bgPr>
    </p:bg>
    <p:spTree>
      <p:nvGrpSpPr>
        <p:cNvPr id="1" name=""/>
        <p:cNvGrpSpPr/>
        <p:nvPr/>
      </p:nvGrpSpPr>
      <p:grpSpPr>
        <a:xfrm>
          <a:off x="0" y="0"/>
          <a:ext cx="0" cy="0"/>
          <a:chOff x="0" y="0"/>
          <a:chExt cx="0" cy="0"/>
        </a:xfrm>
      </p:grpSpPr>
      <p:sp>
        <p:nvSpPr>
          <p:cNvPr id="2" name="Text 0"/>
          <p:cNvSpPr/>
          <p:nvPr/>
        </p:nvSpPr>
        <p:spPr>
          <a:xfrm>
            <a:off x="731520" y="274320"/>
            <a:ext cx="7680960" cy="548640"/>
          </a:xfrm>
          <a:prstGeom prst="rect">
            <a:avLst/>
          </a:prstGeom>
          <a:noFill/>
          <a:ln/>
        </p:spPr>
        <p:txBody>
          <a:bodyPr wrap="square" lIns="0" tIns="0" rIns="0" bIns="0" rtlCol="0" anchor="ctr"/>
          <a:lstStyle/>
          <a:p>
            <a:pPr indent="0" marL="0">
              <a:buNone/>
            </a:pPr>
            <a:r>
              <a:rPr lang="en-US" sz="2800" b="1" dirty="0">
                <a:solidFill>
                  <a:srgbClr val="1A2332"/>
                </a:solidFill>
                <a:latin typeface="Trebuchet MS" pitchFamily="34" charset="0"/>
                <a:ea typeface="Trebuchet MS" pitchFamily="34" charset="-122"/>
                <a:cs typeface="Trebuchet MS" pitchFamily="34" charset="-120"/>
              </a:rPr>
              <a:t>Domain: what the system knows about an incident</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731520" y="914400"/>
          <a:ext cx="7680960" cy="914400"/>
        </p:xfrm>
        <a:graphic>
          <a:graphicData uri="http://schemas.openxmlformats.org/drawingml/2006/table">
            <a:tbl>
              <a:tblPr/>
              <a:tblGrid>
                <a:gridCol w="1463040"/>
                <a:gridCol w="6217920"/>
              </a:tblGrid>
              <a:tr h="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Class</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6B5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it represents</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6B5A"/>
                    </a:solidFill>
                  </a:tcPr>
                </a:tc>
              </a:tr>
              <a:tr h="0">
                <a:tc>
                  <a:txBody>
                    <a:bodyPr/>
                    <a:lstStyle/>
                    <a:p>
                      <a:pPr indent="0" marL="0">
                        <a:buNone/>
                      </a:pPr>
                      <a:r>
                        <a:rPr lang="en-US" sz="1100" b="1" dirty="0">
                          <a:solidFill>
                            <a:srgbClr val="1A6B5A"/>
                          </a:solidFill>
                          <a:latin typeface="Calibri" pitchFamily="34" charset="0"/>
                          <a:ea typeface="Calibri" pitchFamily="34" charset="-122"/>
                          <a:cs typeface="Calibri" pitchFamily="34" charset="-120"/>
                        </a:rPr>
                        <a:t>TrafficEvent</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One incident detected by a camera. Holds the camera that saw it, what kind of incident (Debris, Stopped, Congestion, Pedestrian), how urgent it is (Low to Critical), when it happened, and the list of AI detections that triggered it.</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r>
              <a:tr h="0">
                <a:tc>
                  <a:txBody>
                    <a:bodyPr/>
                    <a:lstStyle/>
                    <a:p>
                      <a:pPr indent="0" marL="0">
                        <a:buNone/>
                      </a:pPr>
                      <a:r>
                        <a:rPr lang="en-US" sz="1100" b="1" dirty="0">
                          <a:solidFill>
                            <a:srgbClr val="1A6B5A"/>
                          </a:solidFill>
                          <a:latin typeface="Calibri" pitchFamily="34" charset="0"/>
                          <a:ea typeface="Calibri" pitchFamily="34" charset="-122"/>
                          <a:cs typeface="Calibri" pitchFamily="34" charset="-120"/>
                        </a:rPr>
                        <a:t>Detection</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One object the AI identified in a video frame. The AI says: I found a "tire" with 91% confidence at this location in the frame.</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A6B5A"/>
                          </a:solidFill>
                          <a:latin typeface="Calibri" pitchFamily="34" charset="0"/>
                          <a:ea typeface="Calibri" pitchFamily="34" charset="-122"/>
                          <a:cs typeface="Calibri" pitchFamily="34" charset="-120"/>
                        </a:rPr>
                        <a:t>BoundingBox</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The rectangle the AI drew around the detected object. X, Y, Width, Height in pixel coordinates. This is standard computer vision output.</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r>
              <a:tr h="0">
                <a:tc>
                  <a:txBody>
                    <a:bodyPr/>
                    <a:lstStyle/>
                    <a:p>
                      <a:pPr indent="0" marL="0">
                        <a:buNone/>
                      </a:pPr>
                      <a:r>
                        <a:rPr lang="en-US" sz="1100" b="1" dirty="0">
                          <a:solidFill>
                            <a:srgbClr val="1A6B5A"/>
                          </a:solidFill>
                          <a:latin typeface="Calibri" pitchFamily="34" charset="0"/>
                          <a:ea typeface="Calibri" pitchFamily="34" charset="-122"/>
                          <a:cs typeface="Calibri" pitchFamily="34" charset="-120"/>
                        </a:rPr>
                        <a:t>EventType</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What kind of incident. Debris = something on the road. Stopped = vehicle in a live lane. Congestion = traffic building up. Pedestrian = person where they shouldn't be.</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A6B5A"/>
                          </a:solidFill>
                          <a:latin typeface="Calibri" pitchFamily="34" charset="0"/>
                          <a:ea typeface="Calibri" pitchFamily="34" charset="-122"/>
                          <a:cs typeface="Calibri" pitchFamily="34" charset="-120"/>
                        </a:rPr>
                        <a:t>Severity</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How fast the operator needs to respond. Low = monitor. High = dispatch soon. Critical = dispatch now.</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r>
            </a:tbl>
          </a:graphicData>
        </a:graphic>
      </p:graphicFrame>
      <p:sp>
        <p:nvSpPr>
          <p:cNvPr id="4" name="Text 1"/>
          <p:cNvSpPr/>
          <p:nvPr/>
        </p:nvSpPr>
        <p:spPr>
          <a:xfrm>
            <a:off x="731520" y="4572000"/>
            <a:ext cx="7680960" cy="27432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All invariants are enforced in constructors. If the data is invalid, the object cannot be created.</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B"/>
        </a:solidFill>
      </p:bgPr>
    </p:bg>
    <p:spTree>
      <p:nvGrpSpPr>
        <p:cNvPr id="1" name=""/>
        <p:cNvGrpSpPr/>
        <p:nvPr/>
      </p:nvGrpSpPr>
      <p:grpSpPr>
        <a:xfrm>
          <a:off x="0" y="0"/>
          <a:ext cx="0" cy="0"/>
          <a:chOff x="0" y="0"/>
          <a:chExt cx="0" cy="0"/>
        </a:xfrm>
      </p:grpSpPr>
      <p:sp>
        <p:nvSpPr>
          <p:cNvPr id="2" name="Text 0"/>
          <p:cNvSpPr/>
          <p:nvPr/>
        </p:nvSpPr>
        <p:spPr>
          <a:xfrm>
            <a:off x="731520" y="274320"/>
            <a:ext cx="7680960" cy="548640"/>
          </a:xfrm>
          <a:prstGeom prst="rect">
            <a:avLst/>
          </a:prstGeom>
          <a:noFill/>
          <a:ln/>
        </p:spPr>
        <p:txBody>
          <a:bodyPr wrap="square" lIns="0" tIns="0" rIns="0" bIns="0" rtlCol="0" anchor="ctr"/>
          <a:lstStyle/>
          <a:p>
            <a:pPr indent="0" marL="0">
              <a:buNone/>
            </a:pPr>
            <a:r>
              <a:rPr lang="en-US" sz="2800" b="1" dirty="0">
                <a:solidFill>
                  <a:srgbClr val="1A2332"/>
                </a:solidFill>
                <a:latin typeface="Trebuchet MS" pitchFamily="34" charset="0"/>
                <a:ea typeface="Trebuchet MS" pitchFamily="34" charset="-122"/>
                <a:cs typeface="Trebuchet MS" pitchFamily="34" charset="-120"/>
              </a:rPr>
              <a:t>Application: what goes in and what comes out</a:t>
            </a:r>
            <a:endParaRPr lang="en-US" sz="2800" dirty="0"/>
          </a:p>
        </p:txBody>
      </p:sp>
      <p:sp>
        <p:nvSpPr>
          <p:cNvPr id="3" name="Shape 1"/>
          <p:cNvSpPr/>
          <p:nvPr/>
        </p:nvSpPr>
        <p:spPr>
          <a:xfrm>
            <a:off x="731520" y="914400"/>
            <a:ext cx="54864" cy="320040"/>
          </a:xfrm>
          <a:prstGeom prst="rect">
            <a:avLst/>
          </a:prstGeom>
          <a:solidFill>
            <a:srgbClr val="C44B2F"/>
          </a:solidFill>
          <a:ln/>
        </p:spPr>
      </p:sp>
      <p:sp>
        <p:nvSpPr>
          <p:cNvPr id="4" name="Text 2"/>
          <p:cNvSpPr/>
          <p:nvPr/>
        </p:nvSpPr>
        <p:spPr>
          <a:xfrm>
            <a:off x="960120" y="914400"/>
            <a:ext cx="3657600" cy="320040"/>
          </a:xfrm>
          <a:prstGeom prst="rect">
            <a:avLst/>
          </a:prstGeom>
          <a:noFill/>
          <a:ln/>
        </p:spPr>
        <p:txBody>
          <a:bodyPr wrap="square" lIns="0" tIns="0" rIns="0" bIns="0" rtlCol="0" anchor="ctr"/>
          <a:lstStyle/>
          <a:p>
            <a:pPr indent="0" marL="0">
              <a:buNone/>
            </a:pPr>
            <a:r>
              <a:rPr lang="en-US" sz="1600" b="1" dirty="0">
                <a:solidFill>
                  <a:srgbClr val="1A2332"/>
                </a:solidFill>
                <a:latin typeface="Trebuchet MS" pitchFamily="34" charset="0"/>
                <a:ea typeface="Trebuchet MS" pitchFamily="34" charset="-122"/>
                <a:cs typeface="Trebuchet MS" pitchFamily="34" charset="-120"/>
              </a:rPr>
              <a:t>Write path (POST)</a:t>
            </a:r>
            <a:endParaRPr lang="en-US" sz="1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731520" y="1280160"/>
          <a:ext cx="7680960" cy="914400"/>
        </p:xfrm>
        <a:graphic>
          <a:graphicData uri="http://schemas.openxmlformats.org/drawingml/2006/table">
            <a:tbl>
              <a:tblPr/>
              <a:tblGrid>
                <a:gridCol w="2286000"/>
                <a:gridCol w="5394960"/>
              </a:tblGrid>
              <a:tr h="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Class</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B3A4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What it does</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B3A4E"/>
                    </a:solidFill>
                  </a:tcPr>
                </a:tc>
              </a:tr>
              <a:tr h="0">
                <a:tc>
                  <a:txBody>
                    <a:bodyPr/>
                    <a:lstStyle/>
                    <a:p>
                      <a:pPr indent="0" marL="0">
                        <a:buNone/>
                      </a:pPr>
                      <a:r>
                        <a:rPr lang="en-US" sz="1000" b="1" dirty="0">
                          <a:solidFill>
                            <a:srgbClr val="C44B2F"/>
                          </a:solidFill>
                          <a:latin typeface="Calibri" pitchFamily="34" charset="0"/>
                          <a:ea typeface="Calibri" pitchFamily="34" charset="-122"/>
                          <a:cs typeface="Calibri" pitchFamily="34" charset="-120"/>
                        </a:rPr>
                        <a:t>TrafficEventInput</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What the AI system sends us. Contains eventId, cameraId, eventType, severity, occurredAt, and a list of DetectionInput objects.</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r>
              <a:tr h="0">
                <a:tc>
                  <a:txBody>
                    <a:bodyPr/>
                    <a:lstStyle/>
                    <a:p>
                      <a:pPr indent="0" marL="0">
                        <a:buNone/>
                      </a:pPr>
                      <a:r>
                        <a:rPr lang="en-US" sz="1000" b="1" dirty="0">
                          <a:solidFill>
                            <a:srgbClr val="C44B2F"/>
                          </a:solidFill>
                          <a:latin typeface="Calibri" pitchFamily="34" charset="0"/>
                          <a:ea typeface="Calibri" pitchFamily="34" charset="-122"/>
                          <a:cs typeface="Calibri" pitchFamily="34" charset="-120"/>
                        </a:rPr>
                        <a:t>DetectionInput</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What the AI detected: label ("tire", "vehicle"), confidence (0.0–1.0), and a BoundingBoxInput (pixel coordinates in the video frame).</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C44B2F"/>
                          </a:solidFill>
                          <a:latin typeface="Calibri" pitchFamily="34" charset="0"/>
                          <a:ea typeface="Calibri" pitchFamily="34" charset="-122"/>
                          <a:cs typeface="Calibri" pitchFamily="34" charset="-120"/>
                        </a:rPr>
                        <a:t>IngestTrafficEventCommand</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Wraps the input for the handler. The handler checks for duplicates, builds the Domain aggregate, and saves.</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r>
              <a:tr h="0">
                <a:tc>
                  <a:txBody>
                    <a:bodyPr/>
                    <a:lstStyle/>
                    <a:p>
                      <a:pPr indent="0" marL="0">
                        <a:buNone/>
                      </a:pPr>
                      <a:r>
                        <a:rPr lang="en-US" sz="1000" b="1" dirty="0">
                          <a:solidFill>
                            <a:srgbClr val="C44B2F"/>
                          </a:solidFill>
                          <a:latin typeface="Calibri" pitchFamily="34" charset="0"/>
                          <a:ea typeface="Calibri" pitchFamily="34" charset="-122"/>
                          <a:cs typeface="Calibri" pitchFamily="34" charset="-120"/>
                        </a:rPr>
                        <a:t>IngestTrafficEventResult</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Tells the controller: was this a new event or a duplicate? Controller returns 201 or 200 accordingly.</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
        <p:nvSpPr>
          <p:cNvPr id="6" name="Shape 3"/>
          <p:cNvSpPr/>
          <p:nvPr/>
        </p:nvSpPr>
        <p:spPr>
          <a:xfrm>
            <a:off x="731520" y="3200400"/>
            <a:ext cx="54864" cy="320040"/>
          </a:xfrm>
          <a:prstGeom prst="rect">
            <a:avLst/>
          </a:prstGeom>
          <a:solidFill>
            <a:srgbClr val="2B7CD3"/>
          </a:solidFill>
          <a:ln/>
        </p:spPr>
      </p:sp>
      <p:sp>
        <p:nvSpPr>
          <p:cNvPr id="7" name="Text 4"/>
          <p:cNvSpPr/>
          <p:nvPr/>
        </p:nvSpPr>
        <p:spPr>
          <a:xfrm>
            <a:off x="960120" y="3200400"/>
            <a:ext cx="3657600" cy="320040"/>
          </a:xfrm>
          <a:prstGeom prst="rect">
            <a:avLst/>
          </a:prstGeom>
          <a:noFill/>
          <a:ln/>
        </p:spPr>
        <p:txBody>
          <a:bodyPr wrap="square" lIns="0" tIns="0" rIns="0" bIns="0" rtlCol="0" anchor="ctr"/>
          <a:lstStyle/>
          <a:p>
            <a:pPr indent="0" marL="0">
              <a:buNone/>
            </a:pPr>
            <a:r>
              <a:rPr lang="en-US" sz="1600" b="1" dirty="0">
                <a:solidFill>
                  <a:srgbClr val="1A2332"/>
                </a:solidFill>
                <a:latin typeface="Trebuchet MS" pitchFamily="34" charset="0"/>
                <a:ea typeface="Trebuchet MS" pitchFamily="34" charset="-122"/>
                <a:cs typeface="Trebuchet MS" pitchFamily="34" charset="-120"/>
              </a:rPr>
              <a:t>Read path (GET)</a:t>
            </a:r>
            <a:endParaRPr lang="en-US" sz="1600" dirty="0"/>
          </a:p>
        </p:txBody>
      </p:sp>
      <p:graphicFrame>
        <p:nvGraphicFramePr>
          <p:cNvPr id="9" name="Table 1"/>
          <p:cNvGraphicFramePr>
            <a:graphicFrameLocks noGrp="1"/>
          </p:cNvGraphicFramePr>
          <p:nvPr>
            <p:extLst>
              <p:ext uri="{D42A27DB-BD31-4B8C-83A1-F6EECF244321}">
                <p14:modId xmlns:p14="http://schemas.microsoft.com/office/powerpoint/2010/main" val="1579011935"/>
              </p:ext>
            </p:extLst>
          </p:nvPr>
        </p:nvGraphicFramePr>
        <p:xfrm>
          <a:off x="731520" y="3566160"/>
          <a:ext cx="7680960" cy="914400"/>
        </p:xfrm>
        <a:graphic>
          <a:graphicData uri="http://schemas.openxmlformats.org/drawingml/2006/table">
            <a:tbl>
              <a:tblPr/>
              <a:tblGrid>
                <a:gridCol w="2286000"/>
                <a:gridCol w="5394960"/>
              </a:tblGrid>
              <a:tr h="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Class</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B3A4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What it does</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B3A4E"/>
                    </a:solidFill>
                  </a:tcPr>
                </a:tc>
              </a:tr>
              <a:tr h="0">
                <a:tc>
                  <a:txBody>
                    <a:bodyPr/>
                    <a:lstStyle/>
                    <a:p>
                      <a:pPr indent="0" marL="0">
                        <a:buNone/>
                      </a:pPr>
                      <a:r>
                        <a:rPr lang="en-US" sz="1000" b="1" dirty="0">
                          <a:solidFill>
                            <a:srgbClr val="2B7CD3"/>
                          </a:solidFill>
                          <a:latin typeface="Calibri" pitchFamily="34" charset="0"/>
                          <a:ea typeface="Calibri" pitchFamily="34" charset="-122"/>
                          <a:cs typeface="Calibri" pitchFamily="34" charset="-120"/>
                        </a:rPr>
                        <a:t>ListTrafficEventsQuery</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What the dashboard asks for: filter by type, severity, camera, date range. Sort by time. Page through results.</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r>
              <a:tr h="0">
                <a:tc>
                  <a:txBody>
                    <a:bodyPr/>
                    <a:lstStyle/>
                    <a:p>
                      <a:pPr indent="0" marL="0">
                        <a:buNone/>
                      </a:pPr>
                      <a:r>
                        <a:rPr lang="en-US" sz="1000" b="1" dirty="0">
                          <a:solidFill>
                            <a:srgbClr val="2B7CD3"/>
                          </a:solidFill>
                          <a:latin typeface="Calibri" pitchFamily="34" charset="0"/>
                          <a:ea typeface="Calibri" pitchFamily="34" charset="-122"/>
                          <a:cs typeface="Calibri" pitchFamily="34" charset="-120"/>
                        </a:rPr>
                        <a:t>EventListItemDto</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What the dashboard gets back. Same fields as TrafficEvent but with a DetectionSummary string ("3 detections: car 0.92, debris 0.87 +1 more") instead of raw bounding boxes.</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2B7CD3"/>
                          </a:solidFill>
                          <a:latin typeface="Calibri" pitchFamily="34" charset="0"/>
                          <a:ea typeface="Calibri" pitchFamily="34" charset="-122"/>
                          <a:cs typeface="Calibri" pitchFamily="34" charset="-120"/>
                        </a:rPr>
                        <a:t>PagedResult&lt;T&gt;</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000" dirty="0">
                          <a:solidFill>
                            <a:srgbClr val="334155"/>
                          </a:solidFill>
                          <a:latin typeface="Calibri" pitchFamily="34" charset="0"/>
                          <a:ea typeface="Calibri" pitchFamily="34" charset="-122"/>
                          <a:cs typeface="Calibri" pitchFamily="34" charset="-120"/>
                        </a:rPr>
                        <a:t>Envelope: items array, total count, current page, page size. Dashboard uses total to show pagination controls.</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B"/>
        </a:solidFill>
      </p:bgPr>
    </p:bg>
    <p:spTree>
      <p:nvGrpSpPr>
        <p:cNvPr id="1" name=""/>
        <p:cNvGrpSpPr/>
        <p:nvPr/>
      </p:nvGrpSpPr>
      <p:grpSpPr>
        <a:xfrm>
          <a:off x="0" y="0"/>
          <a:ext cx="0" cy="0"/>
          <a:chOff x="0" y="0"/>
          <a:chExt cx="0" cy="0"/>
        </a:xfrm>
      </p:grpSpPr>
      <p:sp>
        <p:nvSpPr>
          <p:cNvPr id="2" name="Text 0"/>
          <p:cNvSpPr/>
          <p:nvPr/>
        </p:nvSpPr>
        <p:spPr>
          <a:xfrm>
            <a:off x="731520" y="274320"/>
            <a:ext cx="7680960" cy="548640"/>
          </a:xfrm>
          <a:prstGeom prst="rect">
            <a:avLst/>
          </a:prstGeom>
          <a:noFill/>
          <a:ln/>
        </p:spPr>
        <p:txBody>
          <a:bodyPr wrap="square" lIns="0" tIns="0" rIns="0" bIns="0" rtlCol="0" anchor="ctr"/>
          <a:lstStyle/>
          <a:p>
            <a:pPr indent="0" marL="0">
              <a:buNone/>
            </a:pPr>
            <a:r>
              <a:rPr lang="en-US" sz="3200" b="1" dirty="0">
                <a:solidFill>
                  <a:srgbClr val="1A2332"/>
                </a:solidFill>
                <a:latin typeface="Trebuchet MS" pitchFamily="34" charset="0"/>
                <a:ea typeface="Trebuchet MS" pitchFamily="34" charset="-122"/>
                <a:cs typeface="Trebuchet MS" pitchFamily="34" charset="-120"/>
              </a:rPr>
              <a:t>POST /api/events</a:t>
            </a:r>
            <a:endParaRPr lang="en-US" sz="3200" dirty="0"/>
          </a:p>
        </p:txBody>
      </p:sp>
      <p:sp>
        <p:nvSpPr>
          <p:cNvPr id="3" name="Shape 1"/>
          <p:cNvSpPr/>
          <p:nvPr/>
        </p:nvSpPr>
        <p:spPr>
          <a:xfrm>
            <a:off x="731520" y="960120"/>
            <a:ext cx="320040" cy="320040"/>
          </a:xfrm>
          <a:prstGeom prst="ellipse">
            <a:avLst/>
          </a:prstGeom>
          <a:solidFill>
            <a:srgbClr val="2B7CD3"/>
          </a:solidFill>
          <a:ln/>
        </p:spPr>
      </p:sp>
      <p:sp>
        <p:nvSpPr>
          <p:cNvPr id="4" name="Text 2"/>
          <p:cNvSpPr/>
          <p:nvPr/>
        </p:nvSpPr>
        <p:spPr>
          <a:xfrm>
            <a:off x="731520" y="960120"/>
            <a:ext cx="320040" cy="32004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5" name="Text 3"/>
          <p:cNvSpPr/>
          <p:nvPr/>
        </p:nvSpPr>
        <p:spPr>
          <a:xfrm>
            <a:off x="1188720" y="914400"/>
            <a:ext cx="5029200" cy="365760"/>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Request arrives at EventsController</a:t>
            </a:r>
            <a:endParaRPr lang="en-US" sz="1300" dirty="0"/>
          </a:p>
        </p:txBody>
      </p:sp>
      <p:sp>
        <p:nvSpPr>
          <p:cNvPr id="6" name="Text 4"/>
          <p:cNvSpPr/>
          <p:nvPr/>
        </p:nvSpPr>
        <p:spPr>
          <a:xfrm>
            <a:off x="6583680" y="960120"/>
            <a:ext cx="1645920" cy="274320"/>
          </a:xfrm>
          <a:prstGeom prst="rect">
            <a:avLst/>
          </a:prstGeom>
          <a:noFill/>
          <a:ln/>
        </p:spPr>
        <p:txBody>
          <a:bodyPr wrap="square" lIns="0" tIns="0" rIns="0" bIns="0" rtlCol="0" anchor="ctr"/>
          <a:lstStyle/>
          <a:p>
            <a:pPr indent="0" marL="0">
              <a:buNone/>
            </a:pPr>
            <a:r>
              <a:rPr lang="en-US" sz="1000" b="1" dirty="0">
                <a:solidFill>
                  <a:srgbClr val="2B7CD3"/>
                </a:solidFill>
                <a:latin typeface="Calibri" pitchFamily="34" charset="0"/>
                <a:ea typeface="Calibri" pitchFamily="34" charset="-122"/>
                <a:cs typeface="Calibri" pitchFamily="34" charset="-120"/>
              </a:rPr>
              <a:t>Api</a:t>
            </a:r>
            <a:endParaRPr lang="en-US" sz="1000" dirty="0"/>
          </a:p>
        </p:txBody>
      </p:sp>
      <p:sp>
        <p:nvSpPr>
          <p:cNvPr id="7" name="Shape 5"/>
          <p:cNvSpPr/>
          <p:nvPr/>
        </p:nvSpPr>
        <p:spPr>
          <a:xfrm>
            <a:off x="731520" y="1508760"/>
            <a:ext cx="320040" cy="320040"/>
          </a:xfrm>
          <a:prstGeom prst="ellipse">
            <a:avLst/>
          </a:prstGeom>
          <a:solidFill>
            <a:srgbClr val="2B7CD3"/>
          </a:solidFill>
          <a:ln/>
        </p:spPr>
      </p:sp>
      <p:sp>
        <p:nvSpPr>
          <p:cNvPr id="8" name="Text 6"/>
          <p:cNvSpPr/>
          <p:nvPr/>
        </p:nvSpPr>
        <p:spPr>
          <a:xfrm>
            <a:off x="731520" y="1508760"/>
            <a:ext cx="320040" cy="32004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9" name="Text 7"/>
          <p:cNvSpPr/>
          <p:nvPr/>
        </p:nvSpPr>
        <p:spPr>
          <a:xfrm>
            <a:off x="1188720" y="1463040"/>
            <a:ext cx="5029200" cy="365760"/>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Validate + build IngestTrafficEventCommand</a:t>
            </a:r>
            <a:endParaRPr lang="en-US" sz="1300" dirty="0"/>
          </a:p>
        </p:txBody>
      </p:sp>
      <p:sp>
        <p:nvSpPr>
          <p:cNvPr id="10" name="Text 8"/>
          <p:cNvSpPr/>
          <p:nvPr/>
        </p:nvSpPr>
        <p:spPr>
          <a:xfrm>
            <a:off x="6583680" y="1508760"/>
            <a:ext cx="1645920" cy="274320"/>
          </a:xfrm>
          <a:prstGeom prst="rect">
            <a:avLst/>
          </a:prstGeom>
          <a:noFill/>
          <a:ln/>
        </p:spPr>
        <p:txBody>
          <a:bodyPr wrap="square" lIns="0" tIns="0" rIns="0" bIns="0" rtlCol="0" anchor="ctr"/>
          <a:lstStyle/>
          <a:p>
            <a:pPr indent="0" marL="0">
              <a:buNone/>
            </a:pPr>
            <a:r>
              <a:rPr lang="en-US" sz="1000" b="1" dirty="0">
                <a:solidFill>
                  <a:srgbClr val="2B7CD3"/>
                </a:solidFill>
                <a:latin typeface="Calibri" pitchFamily="34" charset="0"/>
                <a:ea typeface="Calibri" pitchFamily="34" charset="-122"/>
                <a:cs typeface="Calibri" pitchFamily="34" charset="-120"/>
              </a:rPr>
              <a:t>Api</a:t>
            </a:r>
            <a:endParaRPr lang="en-US" sz="1000" dirty="0"/>
          </a:p>
        </p:txBody>
      </p:sp>
      <p:sp>
        <p:nvSpPr>
          <p:cNvPr id="11" name="Shape 9"/>
          <p:cNvSpPr/>
          <p:nvPr/>
        </p:nvSpPr>
        <p:spPr>
          <a:xfrm>
            <a:off x="731520" y="2057400"/>
            <a:ext cx="320040" cy="320040"/>
          </a:xfrm>
          <a:prstGeom prst="ellipse">
            <a:avLst/>
          </a:prstGeom>
          <a:solidFill>
            <a:srgbClr val="C44B2F"/>
          </a:solidFill>
          <a:ln/>
        </p:spPr>
      </p:sp>
      <p:sp>
        <p:nvSpPr>
          <p:cNvPr id="12" name="Text 10"/>
          <p:cNvSpPr/>
          <p:nvPr/>
        </p:nvSpPr>
        <p:spPr>
          <a:xfrm>
            <a:off x="731520" y="2057400"/>
            <a:ext cx="320040" cy="32004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3" name="Text 11"/>
          <p:cNvSpPr/>
          <p:nvPr/>
        </p:nvSpPr>
        <p:spPr>
          <a:xfrm>
            <a:off x="1188720" y="2011680"/>
            <a:ext cx="5029200" cy="365760"/>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Handler checks duplicate by EventId</a:t>
            </a:r>
            <a:endParaRPr lang="en-US" sz="1300" dirty="0"/>
          </a:p>
        </p:txBody>
      </p:sp>
      <p:sp>
        <p:nvSpPr>
          <p:cNvPr id="14" name="Text 12"/>
          <p:cNvSpPr/>
          <p:nvPr/>
        </p:nvSpPr>
        <p:spPr>
          <a:xfrm>
            <a:off x="6583680" y="2057400"/>
            <a:ext cx="1645920" cy="274320"/>
          </a:xfrm>
          <a:prstGeom prst="rect">
            <a:avLst/>
          </a:prstGeom>
          <a:noFill/>
          <a:ln/>
        </p:spPr>
        <p:txBody>
          <a:bodyPr wrap="square" lIns="0" tIns="0" rIns="0" bIns="0" rtlCol="0" anchor="ctr"/>
          <a:lstStyle/>
          <a:p>
            <a:pPr indent="0" marL="0">
              <a:buNone/>
            </a:pPr>
            <a:r>
              <a:rPr lang="en-US" sz="1000" b="1" dirty="0">
                <a:solidFill>
                  <a:srgbClr val="C44B2F"/>
                </a:solidFill>
                <a:latin typeface="Calibri" pitchFamily="34" charset="0"/>
                <a:ea typeface="Calibri" pitchFamily="34" charset="-122"/>
                <a:cs typeface="Calibri" pitchFamily="34" charset="-120"/>
              </a:rPr>
              <a:t>Application</a:t>
            </a:r>
            <a:endParaRPr lang="en-US" sz="1000" dirty="0"/>
          </a:p>
        </p:txBody>
      </p:sp>
      <p:sp>
        <p:nvSpPr>
          <p:cNvPr id="15" name="Shape 13"/>
          <p:cNvSpPr/>
          <p:nvPr/>
        </p:nvSpPr>
        <p:spPr>
          <a:xfrm>
            <a:off x="731520" y="2606040"/>
            <a:ext cx="320040" cy="320040"/>
          </a:xfrm>
          <a:prstGeom prst="ellipse">
            <a:avLst/>
          </a:prstGeom>
          <a:solidFill>
            <a:srgbClr val="1A6B5A"/>
          </a:solidFill>
          <a:ln/>
        </p:spPr>
      </p:sp>
      <p:sp>
        <p:nvSpPr>
          <p:cNvPr id="16" name="Text 14"/>
          <p:cNvSpPr/>
          <p:nvPr/>
        </p:nvSpPr>
        <p:spPr>
          <a:xfrm>
            <a:off x="731520" y="2606040"/>
            <a:ext cx="320040" cy="32004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7" name="Text 15"/>
          <p:cNvSpPr/>
          <p:nvPr/>
        </p:nvSpPr>
        <p:spPr>
          <a:xfrm>
            <a:off x="1188720" y="2560320"/>
            <a:ext cx="5029200" cy="365760"/>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Build TrafficEvent aggregate (invariants enforced)</a:t>
            </a:r>
            <a:endParaRPr lang="en-US" sz="1300" dirty="0"/>
          </a:p>
        </p:txBody>
      </p:sp>
      <p:sp>
        <p:nvSpPr>
          <p:cNvPr id="18" name="Text 16"/>
          <p:cNvSpPr/>
          <p:nvPr/>
        </p:nvSpPr>
        <p:spPr>
          <a:xfrm>
            <a:off x="6583680" y="2606040"/>
            <a:ext cx="1645920" cy="274320"/>
          </a:xfrm>
          <a:prstGeom prst="rect">
            <a:avLst/>
          </a:prstGeom>
          <a:noFill/>
          <a:ln/>
        </p:spPr>
        <p:txBody>
          <a:bodyPr wrap="square" lIns="0" tIns="0" rIns="0" bIns="0" rtlCol="0" anchor="ctr"/>
          <a:lstStyle/>
          <a:p>
            <a:pPr indent="0" marL="0">
              <a:buNone/>
            </a:pPr>
            <a:r>
              <a:rPr lang="en-US" sz="1000" b="1" dirty="0">
                <a:solidFill>
                  <a:srgbClr val="1A6B5A"/>
                </a:solidFill>
                <a:latin typeface="Calibri" pitchFamily="34" charset="0"/>
                <a:ea typeface="Calibri" pitchFamily="34" charset="-122"/>
                <a:cs typeface="Calibri" pitchFamily="34" charset="-120"/>
              </a:rPr>
              <a:t>Domain</a:t>
            </a:r>
            <a:endParaRPr lang="en-US" sz="1000" dirty="0"/>
          </a:p>
        </p:txBody>
      </p:sp>
      <p:sp>
        <p:nvSpPr>
          <p:cNvPr id="19" name="Shape 17"/>
          <p:cNvSpPr/>
          <p:nvPr/>
        </p:nvSpPr>
        <p:spPr>
          <a:xfrm>
            <a:off x="731520" y="3154680"/>
            <a:ext cx="320040" cy="320040"/>
          </a:xfrm>
          <a:prstGeom prst="ellipse">
            <a:avLst/>
          </a:prstGeom>
          <a:solidFill>
            <a:srgbClr val="E5A229"/>
          </a:solidFill>
          <a:ln/>
        </p:spPr>
      </p:sp>
      <p:sp>
        <p:nvSpPr>
          <p:cNvPr id="20" name="Text 18"/>
          <p:cNvSpPr/>
          <p:nvPr/>
        </p:nvSpPr>
        <p:spPr>
          <a:xfrm>
            <a:off x="731520" y="3154680"/>
            <a:ext cx="320040" cy="32004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1" name="Text 19"/>
          <p:cNvSpPr/>
          <p:nvPr/>
        </p:nvSpPr>
        <p:spPr>
          <a:xfrm>
            <a:off x="1188720" y="3108960"/>
            <a:ext cx="5029200" cy="365760"/>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Repository: EF Insert + JSONB ValueConverter</a:t>
            </a:r>
            <a:endParaRPr lang="en-US" sz="1300" dirty="0"/>
          </a:p>
        </p:txBody>
      </p:sp>
      <p:sp>
        <p:nvSpPr>
          <p:cNvPr id="22" name="Text 20"/>
          <p:cNvSpPr/>
          <p:nvPr/>
        </p:nvSpPr>
        <p:spPr>
          <a:xfrm>
            <a:off x="6583680" y="3154680"/>
            <a:ext cx="1645920" cy="274320"/>
          </a:xfrm>
          <a:prstGeom prst="rect">
            <a:avLst/>
          </a:prstGeom>
          <a:noFill/>
          <a:ln/>
        </p:spPr>
        <p:txBody>
          <a:bodyPr wrap="square" lIns="0" tIns="0" rIns="0" bIns="0" rtlCol="0" anchor="ctr"/>
          <a:lstStyle/>
          <a:p>
            <a:pPr indent="0" marL="0">
              <a:buNone/>
            </a:pPr>
            <a:r>
              <a:rPr lang="en-US" sz="1000" b="1" dirty="0">
                <a:solidFill>
                  <a:srgbClr val="E5A229"/>
                </a:solidFill>
                <a:latin typeface="Calibri" pitchFamily="34" charset="0"/>
                <a:ea typeface="Calibri" pitchFamily="34" charset="-122"/>
                <a:cs typeface="Calibri" pitchFamily="34" charset="-120"/>
              </a:rPr>
              <a:t>Infrastructure</a:t>
            </a:r>
            <a:endParaRPr lang="en-US" sz="1000" dirty="0"/>
          </a:p>
        </p:txBody>
      </p:sp>
      <p:sp>
        <p:nvSpPr>
          <p:cNvPr id="23" name="Shape 21"/>
          <p:cNvSpPr/>
          <p:nvPr/>
        </p:nvSpPr>
        <p:spPr>
          <a:xfrm>
            <a:off x="731520" y="3703320"/>
            <a:ext cx="320040" cy="320040"/>
          </a:xfrm>
          <a:prstGeom prst="ellipse">
            <a:avLst/>
          </a:prstGeom>
          <a:solidFill>
            <a:srgbClr val="2B3A4E"/>
          </a:solidFill>
          <a:ln/>
        </p:spPr>
      </p:sp>
      <p:sp>
        <p:nvSpPr>
          <p:cNvPr id="24" name="Text 22"/>
          <p:cNvSpPr/>
          <p:nvPr/>
        </p:nvSpPr>
        <p:spPr>
          <a:xfrm>
            <a:off x="731520" y="3703320"/>
            <a:ext cx="320040" cy="32004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5" name="Text 23"/>
          <p:cNvSpPr/>
          <p:nvPr/>
        </p:nvSpPr>
        <p:spPr>
          <a:xfrm>
            <a:off x="1188720" y="3657600"/>
            <a:ext cx="5029200" cy="365760"/>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PostgreSQL: unique index on event_id</a:t>
            </a:r>
            <a:endParaRPr lang="en-US" sz="1300" dirty="0"/>
          </a:p>
        </p:txBody>
      </p:sp>
      <p:sp>
        <p:nvSpPr>
          <p:cNvPr id="26" name="Text 24"/>
          <p:cNvSpPr/>
          <p:nvPr/>
        </p:nvSpPr>
        <p:spPr>
          <a:xfrm>
            <a:off x="6583680" y="3703320"/>
            <a:ext cx="1645920" cy="274320"/>
          </a:xfrm>
          <a:prstGeom prst="rect">
            <a:avLst/>
          </a:prstGeom>
          <a:noFill/>
          <a:ln/>
        </p:spPr>
        <p:txBody>
          <a:bodyPr wrap="square" lIns="0" tIns="0" rIns="0" bIns="0" rtlCol="0" anchor="ctr"/>
          <a:lstStyle/>
          <a:p>
            <a:pPr indent="0" marL="0">
              <a:buNone/>
            </a:pPr>
            <a:r>
              <a:rPr lang="en-US" sz="1000" b="1" dirty="0">
                <a:solidFill>
                  <a:srgbClr val="2B3A4E"/>
                </a:solidFill>
                <a:latin typeface="Calibri" pitchFamily="34" charset="0"/>
                <a:ea typeface="Calibri" pitchFamily="34" charset="-122"/>
                <a:cs typeface="Calibri" pitchFamily="34" charset="-120"/>
              </a:rPr>
              <a:t>DB</a:t>
            </a:r>
            <a:endParaRPr lang="en-US" sz="1000" dirty="0"/>
          </a:p>
        </p:txBody>
      </p:sp>
      <p:sp>
        <p:nvSpPr>
          <p:cNvPr id="27" name="Shape 25"/>
          <p:cNvSpPr/>
          <p:nvPr/>
        </p:nvSpPr>
        <p:spPr>
          <a:xfrm>
            <a:off x="731520" y="4251960"/>
            <a:ext cx="320040" cy="320040"/>
          </a:xfrm>
          <a:prstGeom prst="ellipse">
            <a:avLst/>
          </a:prstGeom>
          <a:solidFill>
            <a:srgbClr val="0F766E"/>
          </a:solidFill>
          <a:ln/>
        </p:spPr>
      </p:sp>
      <p:sp>
        <p:nvSpPr>
          <p:cNvPr id="28" name="Text 26"/>
          <p:cNvSpPr/>
          <p:nvPr/>
        </p:nvSpPr>
        <p:spPr>
          <a:xfrm>
            <a:off x="731520" y="4251960"/>
            <a:ext cx="320040" cy="32004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29" name="Text 27"/>
          <p:cNvSpPr/>
          <p:nvPr/>
        </p:nvSpPr>
        <p:spPr>
          <a:xfrm>
            <a:off x="1188720" y="4206240"/>
            <a:ext cx="5029200" cy="365760"/>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201 Created (new) or 200 OK (duplicate)</a:t>
            </a:r>
            <a:endParaRPr lang="en-US" sz="1300" dirty="0"/>
          </a:p>
        </p:txBody>
      </p:sp>
      <p:sp>
        <p:nvSpPr>
          <p:cNvPr id="30" name="Text 28"/>
          <p:cNvSpPr/>
          <p:nvPr/>
        </p:nvSpPr>
        <p:spPr>
          <a:xfrm>
            <a:off x="6583680" y="4251960"/>
            <a:ext cx="1645920" cy="274320"/>
          </a:xfrm>
          <a:prstGeom prst="rect">
            <a:avLst/>
          </a:prstGeom>
          <a:noFill/>
          <a:ln/>
        </p:spPr>
        <p:txBody>
          <a:bodyPr wrap="square" lIns="0" tIns="0" rIns="0" bIns="0" rtlCol="0" anchor="ctr"/>
          <a:lstStyle/>
          <a:p>
            <a:pPr indent="0" marL="0">
              <a:buNone/>
            </a:pPr>
            <a:r>
              <a:rPr lang="en-US" sz="1000" b="1" dirty="0">
                <a:solidFill>
                  <a:srgbClr val="0F766E"/>
                </a:solidFill>
                <a:latin typeface="Calibri" pitchFamily="34" charset="0"/>
                <a:ea typeface="Calibri" pitchFamily="34" charset="-122"/>
                <a:cs typeface="Calibri" pitchFamily="34" charset="-120"/>
              </a:rPr>
              <a:t>Response</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B"/>
        </a:solidFill>
      </p:bgPr>
    </p:bg>
    <p:spTree>
      <p:nvGrpSpPr>
        <p:cNvPr id="1" name=""/>
        <p:cNvGrpSpPr/>
        <p:nvPr/>
      </p:nvGrpSpPr>
      <p:grpSpPr>
        <a:xfrm>
          <a:off x="0" y="0"/>
          <a:ext cx="0" cy="0"/>
          <a:chOff x="0" y="0"/>
          <a:chExt cx="0" cy="0"/>
        </a:xfrm>
      </p:grpSpPr>
      <p:sp>
        <p:nvSpPr>
          <p:cNvPr id="2" name="Text 0"/>
          <p:cNvSpPr/>
          <p:nvPr/>
        </p:nvSpPr>
        <p:spPr>
          <a:xfrm>
            <a:off x="731520" y="274320"/>
            <a:ext cx="7680960" cy="548640"/>
          </a:xfrm>
          <a:prstGeom prst="rect">
            <a:avLst/>
          </a:prstGeom>
          <a:noFill/>
          <a:ln/>
        </p:spPr>
        <p:txBody>
          <a:bodyPr wrap="square" lIns="0" tIns="0" rIns="0" bIns="0" rtlCol="0" anchor="ctr"/>
          <a:lstStyle/>
          <a:p>
            <a:pPr indent="0" marL="0">
              <a:buNone/>
            </a:pPr>
            <a:r>
              <a:rPr lang="en-US" sz="3200" b="1" dirty="0">
                <a:solidFill>
                  <a:srgbClr val="1A2332"/>
                </a:solidFill>
                <a:latin typeface="Trebuchet MS" pitchFamily="34" charset="0"/>
                <a:ea typeface="Trebuchet MS" pitchFamily="34" charset="-122"/>
                <a:cs typeface="Trebuchet MS" pitchFamily="34" charset="-120"/>
              </a:rPr>
              <a:t>GET /api/events</a:t>
            </a:r>
            <a:endParaRPr lang="en-US" sz="3200" dirty="0"/>
          </a:p>
        </p:txBody>
      </p:sp>
      <p:sp>
        <p:nvSpPr>
          <p:cNvPr id="3" name="Shape 1"/>
          <p:cNvSpPr/>
          <p:nvPr/>
        </p:nvSpPr>
        <p:spPr>
          <a:xfrm>
            <a:off x="731520" y="960120"/>
            <a:ext cx="320040" cy="320040"/>
          </a:xfrm>
          <a:prstGeom prst="ellipse">
            <a:avLst/>
          </a:prstGeom>
          <a:solidFill>
            <a:srgbClr val="2B7CD3"/>
          </a:solidFill>
          <a:ln/>
        </p:spPr>
      </p:sp>
      <p:sp>
        <p:nvSpPr>
          <p:cNvPr id="4" name="Text 2"/>
          <p:cNvSpPr/>
          <p:nvPr/>
        </p:nvSpPr>
        <p:spPr>
          <a:xfrm>
            <a:off x="731520" y="960120"/>
            <a:ext cx="320040" cy="32004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5" name="Text 3"/>
          <p:cNvSpPr/>
          <p:nvPr/>
        </p:nvSpPr>
        <p:spPr>
          <a:xfrm>
            <a:off x="1188720" y="914400"/>
            <a:ext cx="5029200" cy="365760"/>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Request arrives with query params (type, severity, sort, page)</a:t>
            </a:r>
            <a:endParaRPr lang="en-US" sz="1300" dirty="0"/>
          </a:p>
        </p:txBody>
      </p:sp>
      <p:sp>
        <p:nvSpPr>
          <p:cNvPr id="6" name="Text 4"/>
          <p:cNvSpPr/>
          <p:nvPr/>
        </p:nvSpPr>
        <p:spPr>
          <a:xfrm>
            <a:off x="6583680" y="960120"/>
            <a:ext cx="1645920" cy="274320"/>
          </a:xfrm>
          <a:prstGeom prst="rect">
            <a:avLst/>
          </a:prstGeom>
          <a:noFill/>
          <a:ln/>
        </p:spPr>
        <p:txBody>
          <a:bodyPr wrap="square" lIns="0" tIns="0" rIns="0" bIns="0" rtlCol="0" anchor="ctr"/>
          <a:lstStyle/>
          <a:p>
            <a:pPr indent="0" marL="0">
              <a:buNone/>
            </a:pPr>
            <a:r>
              <a:rPr lang="en-US" sz="1000" b="1" dirty="0">
                <a:solidFill>
                  <a:srgbClr val="2B7CD3"/>
                </a:solidFill>
                <a:latin typeface="Calibri" pitchFamily="34" charset="0"/>
                <a:ea typeface="Calibri" pitchFamily="34" charset="-122"/>
                <a:cs typeface="Calibri" pitchFamily="34" charset="-120"/>
              </a:rPr>
              <a:t>Api</a:t>
            </a:r>
            <a:endParaRPr lang="en-US" sz="1000" dirty="0"/>
          </a:p>
        </p:txBody>
      </p:sp>
      <p:sp>
        <p:nvSpPr>
          <p:cNvPr id="7" name="Shape 5"/>
          <p:cNvSpPr/>
          <p:nvPr/>
        </p:nvSpPr>
        <p:spPr>
          <a:xfrm>
            <a:off x="731520" y="1508760"/>
            <a:ext cx="320040" cy="320040"/>
          </a:xfrm>
          <a:prstGeom prst="ellipse">
            <a:avLst/>
          </a:prstGeom>
          <a:solidFill>
            <a:srgbClr val="2B7CD3"/>
          </a:solidFill>
          <a:ln/>
        </p:spPr>
      </p:sp>
      <p:sp>
        <p:nvSpPr>
          <p:cNvPr id="8" name="Text 6"/>
          <p:cNvSpPr/>
          <p:nvPr/>
        </p:nvSpPr>
        <p:spPr>
          <a:xfrm>
            <a:off x="731520" y="1508760"/>
            <a:ext cx="320040" cy="32004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9" name="Text 7"/>
          <p:cNvSpPr/>
          <p:nvPr/>
        </p:nvSpPr>
        <p:spPr>
          <a:xfrm>
            <a:off x="1188720" y="1463040"/>
            <a:ext cx="5029200" cy="365760"/>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Clamp pageSize [1,200], reject non-UTC dates</a:t>
            </a:r>
            <a:endParaRPr lang="en-US" sz="1300" dirty="0"/>
          </a:p>
        </p:txBody>
      </p:sp>
      <p:sp>
        <p:nvSpPr>
          <p:cNvPr id="10" name="Text 8"/>
          <p:cNvSpPr/>
          <p:nvPr/>
        </p:nvSpPr>
        <p:spPr>
          <a:xfrm>
            <a:off x="6583680" y="1508760"/>
            <a:ext cx="1645920" cy="274320"/>
          </a:xfrm>
          <a:prstGeom prst="rect">
            <a:avLst/>
          </a:prstGeom>
          <a:noFill/>
          <a:ln/>
        </p:spPr>
        <p:txBody>
          <a:bodyPr wrap="square" lIns="0" tIns="0" rIns="0" bIns="0" rtlCol="0" anchor="ctr"/>
          <a:lstStyle/>
          <a:p>
            <a:pPr indent="0" marL="0">
              <a:buNone/>
            </a:pPr>
            <a:r>
              <a:rPr lang="en-US" sz="1000" b="1" dirty="0">
                <a:solidFill>
                  <a:srgbClr val="2B7CD3"/>
                </a:solidFill>
                <a:latin typeface="Calibri" pitchFamily="34" charset="0"/>
                <a:ea typeface="Calibri" pitchFamily="34" charset="-122"/>
                <a:cs typeface="Calibri" pitchFamily="34" charset="-120"/>
              </a:rPr>
              <a:t>Api</a:t>
            </a:r>
            <a:endParaRPr lang="en-US" sz="1000" dirty="0"/>
          </a:p>
        </p:txBody>
      </p:sp>
      <p:sp>
        <p:nvSpPr>
          <p:cNvPr id="11" name="Shape 9"/>
          <p:cNvSpPr/>
          <p:nvPr/>
        </p:nvSpPr>
        <p:spPr>
          <a:xfrm>
            <a:off x="731520" y="2057400"/>
            <a:ext cx="320040" cy="320040"/>
          </a:xfrm>
          <a:prstGeom prst="ellipse">
            <a:avLst/>
          </a:prstGeom>
          <a:solidFill>
            <a:srgbClr val="C44B2F"/>
          </a:solidFill>
          <a:ln/>
        </p:spPr>
      </p:sp>
      <p:sp>
        <p:nvSpPr>
          <p:cNvPr id="12" name="Text 10"/>
          <p:cNvSpPr/>
          <p:nvPr/>
        </p:nvSpPr>
        <p:spPr>
          <a:xfrm>
            <a:off x="731520" y="2057400"/>
            <a:ext cx="320040" cy="32004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3" name="Text 11"/>
          <p:cNvSpPr/>
          <p:nvPr/>
        </p:nvSpPr>
        <p:spPr>
          <a:xfrm>
            <a:off x="1188720" y="2011680"/>
            <a:ext cx="5029200" cy="365760"/>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Build ListTrafficEventsQuery, pass to handler</a:t>
            </a:r>
            <a:endParaRPr lang="en-US" sz="1300" dirty="0"/>
          </a:p>
        </p:txBody>
      </p:sp>
      <p:sp>
        <p:nvSpPr>
          <p:cNvPr id="14" name="Text 12"/>
          <p:cNvSpPr/>
          <p:nvPr/>
        </p:nvSpPr>
        <p:spPr>
          <a:xfrm>
            <a:off x="6583680" y="2057400"/>
            <a:ext cx="1645920" cy="274320"/>
          </a:xfrm>
          <a:prstGeom prst="rect">
            <a:avLst/>
          </a:prstGeom>
          <a:noFill/>
          <a:ln/>
        </p:spPr>
        <p:txBody>
          <a:bodyPr wrap="square" lIns="0" tIns="0" rIns="0" bIns="0" rtlCol="0" anchor="ctr"/>
          <a:lstStyle/>
          <a:p>
            <a:pPr indent="0" marL="0">
              <a:buNone/>
            </a:pPr>
            <a:r>
              <a:rPr lang="en-US" sz="1000" b="1" dirty="0">
                <a:solidFill>
                  <a:srgbClr val="C44B2F"/>
                </a:solidFill>
                <a:latin typeface="Calibri" pitchFamily="34" charset="0"/>
                <a:ea typeface="Calibri" pitchFamily="34" charset="-122"/>
                <a:cs typeface="Calibri" pitchFamily="34" charset="-120"/>
              </a:rPr>
              <a:t>Application</a:t>
            </a:r>
            <a:endParaRPr lang="en-US" sz="1000" dirty="0"/>
          </a:p>
        </p:txBody>
      </p:sp>
      <p:sp>
        <p:nvSpPr>
          <p:cNvPr id="15" name="Shape 13"/>
          <p:cNvSpPr/>
          <p:nvPr/>
        </p:nvSpPr>
        <p:spPr>
          <a:xfrm>
            <a:off x="731520" y="2606040"/>
            <a:ext cx="320040" cy="320040"/>
          </a:xfrm>
          <a:prstGeom prst="ellipse">
            <a:avLst/>
          </a:prstGeom>
          <a:solidFill>
            <a:srgbClr val="E5A229"/>
          </a:solidFill>
          <a:ln/>
        </p:spPr>
      </p:sp>
      <p:sp>
        <p:nvSpPr>
          <p:cNvPr id="16" name="Text 14"/>
          <p:cNvSpPr/>
          <p:nvPr/>
        </p:nvSpPr>
        <p:spPr>
          <a:xfrm>
            <a:off x="731520" y="2606040"/>
            <a:ext cx="320040" cy="32004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7" name="Text 15"/>
          <p:cNvSpPr/>
          <p:nvPr/>
        </p:nvSpPr>
        <p:spPr>
          <a:xfrm>
            <a:off x="1188720" y="2560320"/>
            <a:ext cx="5029200" cy="365760"/>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Repository: COUNT(*) + SELECT with filters, ORDER BY, OFFSET/LIMIT</a:t>
            </a:r>
            <a:endParaRPr lang="en-US" sz="1300" dirty="0"/>
          </a:p>
        </p:txBody>
      </p:sp>
      <p:sp>
        <p:nvSpPr>
          <p:cNvPr id="18" name="Text 16"/>
          <p:cNvSpPr/>
          <p:nvPr/>
        </p:nvSpPr>
        <p:spPr>
          <a:xfrm>
            <a:off x="6583680" y="2606040"/>
            <a:ext cx="1645920" cy="274320"/>
          </a:xfrm>
          <a:prstGeom prst="rect">
            <a:avLst/>
          </a:prstGeom>
          <a:noFill/>
          <a:ln/>
        </p:spPr>
        <p:txBody>
          <a:bodyPr wrap="square" lIns="0" tIns="0" rIns="0" bIns="0" rtlCol="0" anchor="ctr"/>
          <a:lstStyle/>
          <a:p>
            <a:pPr indent="0" marL="0">
              <a:buNone/>
            </a:pPr>
            <a:r>
              <a:rPr lang="en-US" sz="1000" b="1" dirty="0">
                <a:solidFill>
                  <a:srgbClr val="E5A229"/>
                </a:solidFill>
                <a:latin typeface="Calibri" pitchFamily="34" charset="0"/>
                <a:ea typeface="Calibri" pitchFamily="34" charset="-122"/>
                <a:cs typeface="Calibri" pitchFamily="34" charset="-120"/>
              </a:rPr>
              <a:t>Infrastructure</a:t>
            </a:r>
            <a:endParaRPr lang="en-US" sz="1000" dirty="0"/>
          </a:p>
        </p:txBody>
      </p:sp>
      <p:sp>
        <p:nvSpPr>
          <p:cNvPr id="19" name="Shape 17"/>
          <p:cNvSpPr/>
          <p:nvPr/>
        </p:nvSpPr>
        <p:spPr>
          <a:xfrm>
            <a:off x="731520" y="3154680"/>
            <a:ext cx="320040" cy="320040"/>
          </a:xfrm>
          <a:prstGeom prst="ellipse">
            <a:avLst/>
          </a:prstGeom>
          <a:solidFill>
            <a:srgbClr val="1A6B5A"/>
          </a:solidFill>
          <a:ln/>
        </p:spPr>
      </p:sp>
      <p:sp>
        <p:nvSpPr>
          <p:cNvPr id="20" name="Text 18"/>
          <p:cNvSpPr/>
          <p:nvPr/>
        </p:nvSpPr>
        <p:spPr>
          <a:xfrm>
            <a:off x="731520" y="3154680"/>
            <a:ext cx="320040" cy="32004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1" name="Text 19"/>
          <p:cNvSpPr/>
          <p:nvPr/>
        </p:nvSpPr>
        <p:spPr>
          <a:xfrm>
            <a:off x="1188720" y="3108960"/>
            <a:ext cx="5029200" cy="365760"/>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Materialise TrafficEvent entities from JSONB</a:t>
            </a:r>
            <a:endParaRPr lang="en-US" sz="1300" dirty="0"/>
          </a:p>
        </p:txBody>
      </p:sp>
      <p:sp>
        <p:nvSpPr>
          <p:cNvPr id="22" name="Text 20"/>
          <p:cNvSpPr/>
          <p:nvPr/>
        </p:nvSpPr>
        <p:spPr>
          <a:xfrm>
            <a:off x="6583680" y="3154680"/>
            <a:ext cx="1645920" cy="274320"/>
          </a:xfrm>
          <a:prstGeom prst="rect">
            <a:avLst/>
          </a:prstGeom>
          <a:noFill/>
          <a:ln/>
        </p:spPr>
        <p:txBody>
          <a:bodyPr wrap="square" lIns="0" tIns="0" rIns="0" bIns="0" rtlCol="0" anchor="ctr"/>
          <a:lstStyle/>
          <a:p>
            <a:pPr indent="0" marL="0">
              <a:buNone/>
            </a:pPr>
            <a:r>
              <a:rPr lang="en-US" sz="1000" b="1" dirty="0">
                <a:solidFill>
                  <a:srgbClr val="1A6B5A"/>
                </a:solidFill>
                <a:latin typeface="Calibri" pitchFamily="34" charset="0"/>
                <a:ea typeface="Calibri" pitchFamily="34" charset="-122"/>
                <a:cs typeface="Calibri" pitchFamily="34" charset="-120"/>
              </a:rPr>
              <a:t>Domain</a:t>
            </a:r>
            <a:endParaRPr lang="en-US" sz="1000" dirty="0"/>
          </a:p>
        </p:txBody>
      </p:sp>
      <p:sp>
        <p:nvSpPr>
          <p:cNvPr id="23" name="Shape 21"/>
          <p:cNvSpPr/>
          <p:nvPr/>
        </p:nvSpPr>
        <p:spPr>
          <a:xfrm>
            <a:off x="731520" y="3703320"/>
            <a:ext cx="320040" cy="320040"/>
          </a:xfrm>
          <a:prstGeom prst="ellipse">
            <a:avLst/>
          </a:prstGeom>
          <a:solidFill>
            <a:srgbClr val="C44B2F"/>
          </a:solidFill>
          <a:ln/>
        </p:spPr>
      </p:sp>
      <p:sp>
        <p:nvSpPr>
          <p:cNvPr id="24" name="Text 22"/>
          <p:cNvSpPr/>
          <p:nvPr/>
        </p:nvSpPr>
        <p:spPr>
          <a:xfrm>
            <a:off x="731520" y="3703320"/>
            <a:ext cx="320040" cy="32004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5" name="Text 23"/>
          <p:cNvSpPr/>
          <p:nvPr/>
        </p:nvSpPr>
        <p:spPr>
          <a:xfrm>
            <a:off x="1188720" y="3657600"/>
            <a:ext cx="5029200" cy="365760"/>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Map to EventListItemDto[], build DetectionSummary</a:t>
            </a:r>
            <a:endParaRPr lang="en-US" sz="1300" dirty="0"/>
          </a:p>
        </p:txBody>
      </p:sp>
      <p:sp>
        <p:nvSpPr>
          <p:cNvPr id="26" name="Text 24"/>
          <p:cNvSpPr/>
          <p:nvPr/>
        </p:nvSpPr>
        <p:spPr>
          <a:xfrm>
            <a:off x="6583680" y="3703320"/>
            <a:ext cx="1645920" cy="274320"/>
          </a:xfrm>
          <a:prstGeom prst="rect">
            <a:avLst/>
          </a:prstGeom>
          <a:noFill/>
          <a:ln/>
        </p:spPr>
        <p:txBody>
          <a:bodyPr wrap="square" lIns="0" tIns="0" rIns="0" bIns="0" rtlCol="0" anchor="ctr"/>
          <a:lstStyle/>
          <a:p>
            <a:pPr indent="0" marL="0">
              <a:buNone/>
            </a:pPr>
            <a:r>
              <a:rPr lang="en-US" sz="1000" b="1" dirty="0">
                <a:solidFill>
                  <a:srgbClr val="C44B2F"/>
                </a:solidFill>
                <a:latin typeface="Calibri" pitchFamily="34" charset="0"/>
                <a:ea typeface="Calibri" pitchFamily="34" charset="-122"/>
                <a:cs typeface="Calibri" pitchFamily="34" charset="-120"/>
              </a:rPr>
              <a:t>Application</a:t>
            </a:r>
            <a:endParaRPr lang="en-US" sz="1000" dirty="0"/>
          </a:p>
        </p:txBody>
      </p:sp>
      <p:sp>
        <p:nvSpPr>
          <p:cNvPr id="27" name="Shape 25"/>
          <p:cNvSpPr/>
          <p:nvPr/>
        </p:nvSpPr>
        <p:spPr>
          <a:xfrm>
            <a:off x="731520" y="4251960"/>
            <a:ext cx="320040" cy="320040"/>
          </a:xfrm>
          <a:prstGeom prst="ellipse">
            <a:avLst/>
          </a:prstGeom>
          <a:solidFill>
            <a:srgbClr val="0F766E"/>
          </a:solidFill>
          <a:ln/>
        </p:spPr>
      </p:sp>
      <p:sp>
        <p:nvSpPr>
          <p:cNvPr id="28" name="Text 26"/>
          <p:cNvSpPr/>
          <p:nvPr/>
        </p:nvSpPr>
        <p:spPr>
          <a:xfrm>
            <a:off x="731520" y="4251960"/>
            <a:ext cx="320040" cy="32004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29" name="Text 27"/>
          <p:cNvSpPr/>
          <p:nvPr/>
        </p:nvSpPr>
        <p:spPr>
          <a:xfrm>
            <a:off x="1188720" y="4206240"/>
            <a:ext cx="5029200" cy="365760"/>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200 OK { items, total, page, pageSize }</a:t>
            </a:r>
            <a:endParaRPr lang="en-US" sz="1300" dirty="0"/>
          </a:p>
        </p:txBody>
      </p:sp>
      <p:sp>
        <p:nvSpPr>
          <p:cNvPr id="30" name="Text 28"/>
          <p:cNvSpPr/>
          <p:nvPr/>
        </p:nvSpPr>
        <p:spPr>
          <a:xfrm>
            <a:off x="6583680" y="4251960"/>
            <a:ext cx="1645920" cy="274320"/>
          </a:xfrm>
          <a:prstGeom prst="rect">
            <a:avLst/>
          </a:prstGeom>
          <a:noFill/>
          <a:ln/>
        </p:spPr>
        <p:txBody>
          <a:bodyPr wrap="square" lIns="0" tIns="0" rIns="0" bIns="0" rtlCol="0" anchor="ctr"/>
          <a:lstStyle/>
          <a:p>
            <a:pPr indent="0" marL="0">
              <a:buNone/>
            </a:pPr>
            <a:r>
              <a:rPr lang="en-US" sz="1000" b="1" dirty="0">
                <a:solidFill>
                  <a:srgbClr val="0F766E"/>
                </a:solidFill>
                <a:latin typeface="Calibri" pitchFamily="34" charset="0"/>
                <a:ea typeface="Calibri" pitchFamily="34" charset="-122"/>
                <a:cs typeface="Calibri" pitchFamily="34" charset="-120"/>
              </a:rPr>
              <a:t>Response</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B"/>
        </a:solidFill>
      </p:bgPr>
    </p:bg>
    <p:spTree>
      <p:nvGrpSpPr>
        <p:cNvPr id="1" name=""/>
        <p:cNvGrpSpPr/>
        <p:nvPr/>
      </p:nvGrpSpPr>
      <p:grpSpPr>
        <a:xfrm>
          <a:off x="0" y="0"/>
          <a:ext cx="0" cy="0"/>
          <a:chOff x="0" y="0"/>
          <a:chExt cx="0" cy="0"/>
        </a:xfrm>
      </p:grpSpPr>
      <p:sp>
        <p:nvSpPr>
          <p:cNvPr id="2" name="Text 0"/>
          <p:cNvSpPr/>
          <p:nvPr/>
        </p:nvSpPr>
        <p:spPr>
          <a:xfrm>
            <a:off x="731520" y="274320"/>
            <a:ext cx="7680960" cy="548640"/>
          </a:xfrm>
          <a:prstGeom prst="rect">
            <a:avLst/>
          </a:prstGeom>
          <a:noFill/>
          <a:ln/>
        </p:spPr>
        <p:txBody>
          <a:bodyPr wrap="square" lIns="0" tIns="0" rIns="0" bIns="0" rtlCol="0" anchor="ctr"/>
          <a:lstStyle/>
          <a:p>
            <a:pPr indent="0" marL="0">
              <a:buNone/>
            </a:pPr>
            <a:r>
              <a:rPr lang="en-US" sz="3200" b="1" dirty="0">
                <a:solidFill>
                  <a:srgbClr val="1A2332"/>
                </a:solidFill>
                <a:latin typeface="Trebuchet MS" pitchFamily="34" charset="0"/>
                <a:ea typeface="Trebuchet MS" pitchFamily="34" charset="-122"/>
                <a:cs typeface="Trebuchet MS" pitchFamily="34" charset="-120"/>
              </a:rPr>
              <a:t>Endpoints</a:t>
            </a:r>
            <a:endParaRPr lang="en-US" sz="3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731520" y="914400"/>
          <a:ext cx="7680960" cy="914400"/>
        </p:xfrm>
        <a:graphic>
          <a:graphicData uri="http://schemas.openxmlformats.org/drawingml/2006/table">
            <a:tbl>
              <a:tblPr/>
              <a:tblGrid>
                <a:gridCol w="914400"/>
                <a:gridCol w="2194560"/>
                <a:gridCol w="2377440"/>
                <a:gridCol w="1097280"/>
                <a:gridCol w="1097280"/>
              </a:tblGrid>
              <a:tr h="0">
                <a:tc>
                  <a:txBody>
                    <a:bodyPr/>
                    <a:lstStyle/>
                    <a:p>
                      <a:pPr indent="0" marL="0">
                        <a:buNone/>
                      </a:pPr>
                      <a:r>
                        <a:rPr lang="en-US" sz="1100" b="1" dirty="0">
                          <a:solidFill>
                            <a:srgbClr val="FFFFFF"/>
                          </a:solidFill>
                        </a:rPr>
                        <a:t>Method</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B3A4E"/>
                    </a:solidFill>
                  </a:tcPr>
                </a:tc>
                <a:tc>
                  <a:txBody>
                    <a:bodyPr/>
                    <a:lstStyle/>
                    <a:p>
                      <a:pPr indent="0" marL="0">
                        <a:buNone/>
                      </a:pPr>
                      <a:r>
                        <a:rPr lang="en-US" sz="1100" b="1" dirty="0">
                          <a:solidFill>
                            <a:srgbClr val="FFFFFF"/>
                          </a:solidFill>
                        </a:rPr>
                        <a:t>Path</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B3A4E"/>
                    </a:solidFill>
                  </a:tcPr>
                </a:tc>
                <a:tc>
                  <a:txBody>
                    <a:bodyPr/>
                    <a:lstStyle/>
                    <a:p>
                      <a:pPr indent="0" marL="0">
                        <a:buNone/>
                      </a:pPr>
                      <a:r>
                        <a:rPr lang="en-US" sz="1100" b="1" dirty="0">
                          <a:solidFill>
                            <a:srgbClr val="FFFFFF"/>
                          </a:solidFill>
                        </a:rPr>
                        <a:t>Purpose</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B3A4E"/>
                    </a:solidFill>
                  </a:tcPr>
                </a:tc>
                <a:tc>
                  <a:txBody>
                    <a:bodyPr/>
                    <a:lstStyle/>
                    <a:p>
                      <a:pPr indent="0" marL="0">
                        <a:buNone/>
                      </a:pPr>
                      <a:r>
                        <a:rPr lang="en-US" sz="1100" b="1" dirty="0">
                          <a:solidFill>
                            <a:srgbClr val="FFFFFF"/>
                          </a:solidFill>
                        </a:rPr>
                        <a:t>Success</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B3A4E"/>
                    </a:solidFill>
                  </a:tcPr>
                </a:tc>
                <a:tc>
                  <a:txBody>
                    <a:bodyPr/>
                    <a:lstStyle/>
                    <a:p>
                      <a:pPr indent="0" marL="0">
                        <a:buNone/>
                      </a:pPr>
                      <a:r>
                        <a:rPr lang="en-US" sz="1100" b="1" dirty="0">
                          <a:solidFill>
                            <a:srgbClr val="FFFFFF"/>
                          </a:solidFill>
                        </a:rPr>
                        <a:t>Status</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B3A4E"/>
                    </a:solidFill>
                  </a:tcPr>
                </a:tc>
              </a:tr>
              <a:tr h="0">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POST</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/api/events</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Ingest a detection event</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201 / 200</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100" b="1" dirty="0">
                          <a:solidFill>
                            <a:srgbClr val="0F766E"/>
                          </a:solidFill>
                          <a:latin typeface="Calibri" pitchFamily="34" charset="0"/>
                          <a:ea typeface="Calibri" pitchFamily="34" charset="-122"/>
                          <a:cs typeface="Calibri" pitchFamily="34" charset="-120"/>
                        </a:rPr>
                        <a:t>Done</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r>
              <a:tr h="0">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GET</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/api/events</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Paged + filtered list</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200</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b="1" dirty="0">
                          <a:solidFill>
                            <a:srgbClr val="0F766E"/>
                          </a:solidFill>
                          <a:latin typeface="Calibri" pitchFamily="34" charset="0"/>
                          <a:ea typeface="Calibri" pitchFamily="34" charset="-122"/>
                          <a:cs typeface="Calibri" pitchFamily="34" charset="-120"/>
                        </a:rPr>
                        <a:t>Done</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GET</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/api/events/{eventId}</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Full detail with raw detections</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200 / 404</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100" b="1" dirty="0">
                          <a:solidFill>
                            <a:srgbClr val="B45309"/>
                          </a:solidFill>
                          <a:latin typeface="Calibri" pitchFamily="34" charset="0"/>
                          <a:ea typeface="Calibri" pitchFamily="34" charset="-122"/>
                          <a:cs typeface="Calibri" pitchFamily="34" charset="-120"/>
                        </a:rPr>
                        <a:t>Planned</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r>
              <a:tr h="0">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GET</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/api/events/stream</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Live push feed (SSE)</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200</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b="1" dirty="0">
                          <a:solidFill>
                            <a:srgbClr val="B45309"/>
                          </a:solidFill>
                          <a:latin typeface="Calibri" pitchFamily="34" charset="0"/>
                          <a:ea typeface="Calibri" pitchFamily="34" charset="-122"/>
                          <a:cs typeface="Calibri" pitchFamily="34" charset="-120"/>
                        </a:rPr>
                        <a:t>Planned</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
        <p:nvSpPr>
          <p:cNvPr id="4" name="Text 1"/>
          <p:cNvSpPr/>
          <p:nvPr/>
        </p:nvSpPr>
        <p:spPr>
          <a:xfrm>
            <a:off x="731520" y="3200400"/>
            <a:ext cx="7680960" cy="36576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All errors use RFC 7807 Problem Details. 14 issues closed, 12 remaining.</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Traffic Monitor API — How it works</dc:title>
  <dc:subject>PptxGenJS Presentation</dc:subject>
  <dc:creator>Martin Lau</dc:creator>
  <cp:lastModifiedBy>Martin Lau</cp:lastModifiedBy>
  <cp:revision>1</cp:revision>
  <dcterms:created xsi:type="dcterms:W3CDTF">2026-04-18T17:31:34Z</dcterms:created>
  <dcterms:modified xsi:type="dcterms:W3CDTF">2026-04-18T17:31:34Z</dcterms:modified>
</cp:coreProperties>
</file>